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Tumor Dice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2A88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Cascade FCN
2017</c:v>
                  </c:pt>
                  <c:pt idx="1">
                    <c:v>H-DenseUNet
2018</c:v>
                  </c:pt>
                  <c:pt idx="2">
                    <c:v>RA-UNet
2020</c:v>
                  </c:pt>
                  <c:pt idx="3">
                    <c:v>ResUNet
2022</c:v>
                  </c:pt>
                  <c:pt idx="4">
                    <c:v>nnU-Net
2021</c:v>
                  </c:pt>
                  <c:pt idx="5">
                    <c:v>UNETR
2022</c:v>
                  </c:pt>
                  <c:pt idx="6">
                    <c:v>AIM-Unet
2023</c:v>
                  </c:pt>
                  <c:pt idx="7">
                    <c:v>FUF-TransUNet
2024</c:v>
                  </c:pt>
                  <c:pt idx="8">
                    <c:v>G-UNETR++
2026</c:v>
                  </c:pt>
                  <c:pt idx="9">
                    <c:v>SAM+GAN
2023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0.675</c:v>
                </c:pt>
                <c:pt idx="1">
                  <c:v>0.78</c:v>
                </c:pt>
                <c:pt idx="2">
                  <c:v>0.741</c:v>
                </c:pt>
                <c:pt idx="3">
                  <c:v>0.792</c:v>
                </c:pt>
                <c:pt idx="4">
                  <c:v>0.81</c:v>
                </c:pt>
                <c:pt idx="5">
                  <c:v>0.772</c:v>
                </c:pt>
                <c:pt idx="6">
                  <c:v>0.8</c:v>
                </c:pt>
                <c:pt idx="7">
                  <c:v>0.834</c:v>
                </c:pt>
                <c:pt idx="8">
                  <c:v>0.844</c:v>
                </c:pt>
                <c:pt idx="9">
                  <c:v>0.943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474720"/>
            <a:ext cx="3200400" cy="16687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2743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2743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6217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0" y="6217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9692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9692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6012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Tumor Segmentation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Survey and Comparative Analysis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41148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272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|  [Guide Name]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34930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|  MIT World Peace University, Pune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8587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Conference Paper  •  2024–25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170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5179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liver tumor segmentation matters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029968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0299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029968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0848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Related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4323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 and classical methods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944368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443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44368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29992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3467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metrics, loss functions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858768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8587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858768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39136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Family &amp; Encoder–Decoders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2611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ResUNet, AIM-Unet, EREs-UNet++, nnU-Net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1115568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11155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115568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0368" y="1170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Transformer Models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15179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UNETR, Swin-UNet, FUF-TransUNet, G-UNETR++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81728" y="2029968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81728" y="20299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029968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30368" y="20848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&amp; Semi-Supervised Methods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24323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MedGAN, FedLiverNet, SAM + GAN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81728" y="2944368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29443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944368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30368" y="29992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368" y="33467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LiTS benchmark, cross-dataset generalization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81728" y="3858768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81728" y="3858768"/>
            <a:ext cx="47548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858768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30368" y="39136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Directions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30368" y="42611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 and research frontiers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78992"/>
            <a:ext cx="20116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201168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618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" y="19385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Cancer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Rank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1078992"/>
            <a:ext cx="20116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78992"/>
            <a:ext cx="20116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2618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865K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23160" y="19385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078992"/>
            <a:ext cx="20116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78992"/>
            <a:ext cx="201168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618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19385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1078992"/>
            <a:ext cx="20116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078992"/>
            <a:ext cx="2011680" cy="2011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2618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12280" y="19385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Seg.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CT Volume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743200"/>
            <a:ext cx="86868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8163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Segmentation Challenges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" y="33101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218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3504" y="34564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voxels &lt; 3% of total CT volume; often &lt; 0.5% for early lesions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8130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3721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Variability: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" y="3959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Tumors range from 4 mm nodules to 187 mm masses in LiTS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31596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4224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Contrast: 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" y="4462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Hypovascular tumors near-isodense to liver parenchyma in early CT phase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3101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218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Scarcity: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19472" y="34564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LiTS has only 131 labelled volumes; annotation takes 20–60 min/case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8130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721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Shift: 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19472" y="3959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Dice drop when transferring across institutions or scanner protocols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Related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78992"/>
            <a:ext cx="42519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425196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Imaging for Liver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2763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parenchyma: 50–70 HU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04825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1168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Hypovascular tumors: 20–40 HU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43230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9572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Hypervascular HCC: 80–120 HU (arterial phase)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8163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7977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windowing: [−200, 250] for soft tissue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20040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6382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normalization per volume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58444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47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resampling: 1.0 × 1.0 × 1.0 mm³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078992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78992"/>
            <a:ext cx="425196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972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Methods (Pre-DL)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5361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SVM + GLCM features → ~82% accuracy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18288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+ HOG/LBP descriptors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1214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Parameter-sensitive; no hierarchical features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4140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capture complex tumor morphology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999232"/>
            <a:ext cx="42519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99232"/>
            <a:ext cx="4251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1752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LiTS Benchmark Dataset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456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 abdominal CT volumes (131 train / 70 test)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7307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hospitals • 3 scanner manufacturers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40050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1,224 tumor instances in training set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42793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Tumor diameter: 4 mm – 187 mm (median 32 mm)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45537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Tumor Dice: 0.52 (2017) → 0.78 (2022)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Preprocessing, Metrics &amp; Loss Functions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24128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99616" y="1353312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64208" y="1024128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62656" y="1353312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1024128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25696" y="1353312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024128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88736" y="1353312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3328" y="1024128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51776" y="1353312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1024128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" y="1901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2240280"/>
            <a:ext cx="16642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240280"/>
            <a:ext cx="166420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24028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Coeff.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" y="246888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2|X∩Y| / (|X|+|Y|)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285292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overlap metric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84248" y="2240280"/>
            <a:ext cx="16642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84248" y="2240280"/>
            <a:ext cx="166420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84248" y="224028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/ Jaccard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84248" y="246888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|X∩Y| / |X∪Y|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84248" y="285292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overlap / union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39896" y="2240280"/>
            <a:ext cx="16642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39896" y="2240280"/>
            <a:ext cx="166420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39896" y="224028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(mm)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39896" y="246888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surface distance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39896" y="285292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accuracy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95544" y="2240280"/>
            <a:ext cx="16642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95544" y="2240280"/>
            <a:ext cx="166420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95544" y="224028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Hausdorff (mm)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95544" y="246888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surface distance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5544" y="285292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boundary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51192" y="2240280"/>
            <a:ext cx="16642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251192" y="2240280"/>
            <a:ext cx="166420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51192" y="224028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51192" y="246888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51192" y="285292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voxel recall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28600" y="3657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28600" y="3977640"/>
            <a:ext cx="20848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28600" y="397764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Loss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74904" y="4315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optimizes overlap; class-imbalance robust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441448" y="3977640"/>
            <a:ext cx="20848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441448" y="3977640"/>
            <a:ext cx="73152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87752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87752" y="4315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easy negatives; γ=2 for hard examples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54296" y="3977640"/>
            <a:ext cx="20848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54296" y="3977640"/>
            <a:ext cx="73152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 Loss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00600" y="4315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β&gt;0.5 → prioritises recall for small tumors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67144" y="3977640"/>
            <a:ext cx="20848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867144" y="397764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13448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(Dice+Focal)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013448" y="4315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effective in practice for imbalanced datasets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A3A6B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Architectures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Family  •  Attention Models  •  Vision Transformers  •  GANs  •  Semi-supervised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434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PARADIGMS FOR LIVER TUMOR SEGMENTATION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Family &amp; Encoder–Decoder Variants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Innovation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Dice (LiTS)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(2015)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Encoder-decoder + skip connections; biomedical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V-Net (2016)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volumetric U-Net; introduced Dice loss as objective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H-DenseUNet (2018)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2D+3D dense connections; state-of-art at launch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UNet++ (2018)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dense skip connections; closes encoder-decoder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ResUNet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blocks in encoder; mitigates vanishing gradients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nnU-Net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Self-configuring; auto preprocessing + topology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AIM-Unet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 modules: 1×1, 3×3, 5×5 parallel convolutions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EREs-UNet++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High-Efficiency Channel Attention in nested UNet++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Vision Transformer Architectures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78992"/>
            <a:ext cx="42062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420624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Attention-Augmented U-Nets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10972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5544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 (2018)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18013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attention gates at skip connections; α = σ(Wα·ReLU(Wg·g + Wx·x))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10972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1762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RA-UNet (2020)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42316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+ attention gates; Liver 0.960 / Tumor 0.741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10972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7980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RMAU-Net (2023)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" y="30449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dilated conv {1,2,4} + attention; Tumor 0.762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438144"/>
            <a:ext cx="10972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4198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CPAD-Net (2023)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" y="366674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SE+spatial attention on dilated branches {1,2,4,8}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059936"/>
            <a:ext cx="10972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404164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MDAUnet (2024)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" y="42885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attention; multi-task seg + classification; 0.783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1078992"/>
            <a:ext cx="42976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078992"/>
            <a:ext cx="42976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097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Models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1572768"/>
            <a:ext cx="109728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15544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UNETR (2022)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01184" y="17739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ViT encoder (12 layers); CNN decoder; 16³ patches; Tumor 0.772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09160" y="2084832"/>
            <a:ext cx="109728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06654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Swin-UNet (2022)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01184" y="2286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Shifted-window attention O(N); patch merge/expand; Tumor 0.762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709160" y="2596896"/>
            <a:ext cx="109728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57860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nnFormer (2023)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01184" y="27980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Interleaved local+global 3D attention; Tumor 0.778 on LiTS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709160" y="3108960"/>
            <a:ext cx="109728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090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TD-Net (2023)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01184" y="33101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Transformer + dilated CNN; Liver 0.962, Tumor 0.763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709160" y="3621024"/>
            <a:ext cx="109728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60273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FUF-TransUNet (2024)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01184" y="3822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+ SFF modules on TransUNet; Tumor 0.834 (LiTS) / 0.898 (3DIRCADb)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4709160" y="4133088"/>
            <a:ext cx="109728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411480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G-UNETR++ (2026)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01184" y="43342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Gradient-enhanced UNETR; ASD 5.8 mm; Tumor 0.844 on LiTS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GAN, Semi-Supervised &amp; Federated Learning Approaches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78992"/>
            <a:ext cx="2834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283464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GAN-Based Augmentation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" y="1609344"/>
            <a:ext cx="146304" cy="14630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15727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MedGAN (2023)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" y="181965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multi-phase CT synthesis; adaptive cGAN; targets under-represented imaging phases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38328" y="2688336"/>
            <a:ext cx="146304" cy="14630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651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MA-CGAN (2024)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" y="289864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Multi-axis attention + conditional GAN loss; −18% Hausdorff Distance; +6.2% recall for &lt;2 cm lesions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38328" y="3767328"/>
            <a:ext cx="146304" cy="14630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730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GAN (2023)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" y="397764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Cycle-consistency between non-contrast and contrast CT; unpaired cross-phase augmentation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200400" y="1078992"/>
            <a:ext cx="2834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78992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&amp; Self-Supervised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160934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5727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Seg. (CVPR 2023)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9584" y="181965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pseudo-labels → 0.760 Tumor Dice with zero manual annotation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310128" y="268833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2651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SSL (2025)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9584" y="289864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regularizer + axial/sagittal/coronal views; 20 labelled cases → 83.8% liver Dice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310128" y="37673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3730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Swin (2022)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9584" y="397764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CT image modelling pretraining; strong fine-tuning with &lt;30% labels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172200" y="1078992"/>
            <a:ext cx="2834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078992"/>
            <a:ext cx="283464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81928" y="1609344"/>
            <a:ext cx="146304" cy="14630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1384" y="15727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FedLiverNet (2025)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01384" y="181965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aggregation; clustered FL; within 5% of centralised training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281928" y="2688336"/>
            <a:ext cx="146304" cy="14630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1384" y="2651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FL-SANet (2025)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01384" y="289864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Teacher-student SANet; semi-supervised pseudo-labels; privacy-preserving multi-site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281928" y="3767328"/>
            <a:ext cx="146304" cy="14630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1384" y="3730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+ GAN (2023)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01384" y="397764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+ GAN domain adaptation; Tumor Dice 0.943 (best on LiTS)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Results: LiTS Benchmark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1280160"/>
                <a:gridCol w="1280160"/>
                <a:gridCol w="1371600"/>
                <a:gridCol w="21945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DC ↑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DC ↑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ASD ↓ (mm)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FCN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H-DenseUNet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RA-UNet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U-n-Net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nnU-Net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Self-config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UNETR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AIM-Unet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TD-Net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MDAUnet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FUF-TransUNet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G-UNETR++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+ GAN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Dice Score Progression Across Architectures (LiTS)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28600" y="1078992"/>
          <a:ext cx="8686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Generalization &amp; Key Observations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78992"/>
            <a:ext cx="42062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420624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Cross-Dataset: LiTS → 3DIRCADb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18872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LiTS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3DIRCADb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RA-UNet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AIM-Unet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nnU-Net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G-UNETR++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1148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G-UNETR++ shows best cross-scanner robustness (−1.4% only)</a:t>
            </a:r>
            <a:endParaRPr lang="en-US" sz="950" dirty="0"/>
          </a:p>
          <a:p>
            <a:pPr indent="0" marL="0">
              <a:buNone/>
            </a:pPr>
            <a:r>
              <a:rPr lang="en-US" sz="9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gradient-enhanced scanner-agnostic features.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1078992"/>
            <a:ext cx="42976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078992"/>
            <a:ext cx="42976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097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1572768"/>
            <a:ext cx="7315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1554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Dice Saturated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64608" y="17739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achieve 0.94–0.98; tumor segmentation remains dominant challenge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709160" y="2103120"/>
            <a:ext cx="73152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64608" y="20848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Advantage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64608" y="2304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self-attention improves boundary-adjacent &amp; small tumor accuracy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4709160" y="2633472"/>
            <a:ext cx="7315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64608" y="261518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Pipeline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64608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ROI → tumor seg outperforms single-stage by 5–10% Dice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4709160" y="3163824"/>
            <a:ext cx="73152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314553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Loss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64608" y="3364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Focal consistently outperforms single-loss for class imbalance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4709160" y="3694176"/>
            <a:ext cx="7315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4608" y="36758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Baseline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64608" y="38953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Self-configuration (0.810) beats many manually designed post-2021 architectures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4709160" y="4224528"/>
            <a:ext cx="73152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64608" y="4206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Halved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864608" y="44256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ASD dropped from 14–21 mm (2020) to 5.1–6.9 mm (2024)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 &amp; Future Research Directions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325880"/>
            <a:ext cx="914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533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Tumor Detection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&lt;0.50 for sub-cm lesions; critical for early HCC surveillance at 1 cm threshold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28600" y="1929384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929384"/>
            <a:ext cx="914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9568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21579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voxels &lt;3% of volume; even &lt;0.1% for early lesions; compound losses insufficient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28600" y="2532888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532888"/>
            <a:ext cx="914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5603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336" y="27614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Dice drop across institutions; instance norm and TTA provide partial mitigation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28600" y="3136392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136392"/>
            <a:ext cx="914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1638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336" y="3364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LiTS volumes vs. billion-scale natural image datasets; SSL/WSL essential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28600" y="3739896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739896"/>
            <a:ext cx="914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7673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336" y="39684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prospective workflow integration or regulatory evidence in any reviewed study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28600" y="4343400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4343400"/>
            <a:ext cx="914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370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2336" y="4572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transformers require 40–120 GB VRAM; 2–10 min inference/volume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663440" y="10241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325880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325880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35331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Fine-Tuning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28032" y="1554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 tuning on SAM/MedSAM with &lt;50 annotated CT cases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663440" y="1929384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929384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9568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Multi-site Training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28032" y="21579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GDPR/HIPAA-compliant FL with differential privacy and personalized local heads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663440" y="2532888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532888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5603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28032" y="27614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CT image modelling on hospital PACS archives (millions of unlabelled scans)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663440" y="3136392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136392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16382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28032" y="33649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/ deep ensembles → per-voxel confidence for human-AI collaboration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4663440" y="3739896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3739896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76732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&amp; Multi-Modal Fusion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28032" y="39684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 + portal-venous + delayed CT; CT + MRI with cross-modal attention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663440" y="4343400"/>
            <a:ext cx="4251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4343400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43708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Real-Time Inference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28032" y="45720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encoder + INT8 quantization → &lt;100 ms for intraoperative use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60520" cy="841248"/>
          </a:xfrm>
          <a:prstGeom prst="rect">
            <a:avLst/>
          </a:prstGeom>
          <a:solidFill>
            <a:srgbClr val="1A3A6B"/>
          </a:solidFill>
          <a:ln w="63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972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Progress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13533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Dice: 0.675 (2017 CNN) → 0.834–0.844 (2024 Transformers) → 0.943 (SAM+GAN foundation model)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4160520" cy="841248"/>
          </a:xfrm>
          <a:prstGeom prst="rect">
            <a:avLst/>
          </a:prstGeom>
          <a:solidFill>
            <a:srgbClr val="1A3A6B"/>
          </a:solidFill>
          <a:ln w="63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75104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0482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Seg. Solved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23042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Dice &gt;0.96 achieved consistently; tumor segmentation is the dominant remaining challenge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60520" cy="841248"/>
          </a:xfrm>
          <a:prstGeom prst="rect">
            <a:avLst/>
          </a:prstGeom>
          <a:solidFill>
            <a:srgbClr val="1A3A6B"/>
          </a:solidFill>
          <a:ln w="63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9992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Pipelines Win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32552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ROI localization → tumor segmentation consistently outperforms end-to-end single-stage methods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36592" y="1024128"/>
            <a:ext cx="4160520" cy="841248"/>
          </a:xfrm>
          <a:prstGeom prst="rect">
            <a:avLst/>
          </a:prstGeom>
          <a:solidFill>
            <a:srgbClr val="1A3A6B"/>
          </a:solidFill>
          <a:ln w="63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1024128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10972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Persists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82896" y="13533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Dice performance drop across institutions remains the primary clinical translation barrier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36592" y="1975104"/>
            <a:ext cx="4160520" cy="841248"/>
          </a:xfrm>
          <a:prstGeom prst="rect">
            <a:avLst/>
          </a:prstGeom>
          <a:solidFill>
            <a:srgbClr val="1A3A6B"/>
          </a:solidFill>
          <a:ln w="63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1975104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20482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Efficiency Critical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82896" y="23042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(20 labels → 60% tumor Dice) and federated learning are essential for deployment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6592" y="2926080"/>
            <a:ext cx="4160520" cy="841248"/>
          </a:xfrm>
          <a:prstGeom prst="rect">
            <a:avLst/>
          </a:prstGeom>
          <a:solidFill>
            <a:srgbClr val="1A3A6B"/>
          </a:solidFill>
          <a:ln w="63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2926080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29992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Foundation Models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82896" y="32552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SAM-Med3D, self-supervised CT pretraining, and lightweight deployment are highest-priority directions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World Peace University  •  Dept. of Computer Science &amp; Engineering  •  [Student Name]  |  [Guide Name]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Liver Tumor Segmentation Using Deep Learning</dc:title>
  <dc:subject>PptxGenJS Presentation</dc:subject>
  <dc:creator>MIT World Peace University</dc:creator>
  <cp:lastModifiedBy>MIT World Peace University</cp:lastModifiedBy>
  <cp:revision>1</cp:revision>
  <dcterms:created xsi:type="dcterms:W3CDTF">2026-04-15T13:56:46Z</dcterms:created>
  <dcterms:modified xsi:type="dcterms:W3CDTF">2026-04-15T13:56:46Z</dcterms:modified>
</cp:coreProperties>
</file>